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Lora"/>
      <p:regular r:id="rId39"/>
      <p:bold r:id="rId40"/>
      <p:italic r:id="rId41"/>
      <p:boldItalic r:id="rId42"/>
    </p:embeddedFont>
    <p:embeddedFont>
      <p:font typeface="Quattrocento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ora-bold.fntdata"/><Relationship Id="rId20" Type="http://schemas.openxmlformats.org/officeDocument/2006/relationships/slide" Target="slides/slide15.xml"/><Relationship Id="rId42" Type="http://schemas.openxmlformats.org/officeDocument/2006/relationships/font" Target="fonts/Lora-boldItalic.fntdata"/><Relationship Id="rId41" Type="http://schemas.openxmlformats.org/officeDocument/2006/relationships/font" Target="fonts/Lora-italic.fntdata"/><Relationship Id="rId22" Type="http://schemas.openxmlformats.org/officeDocument/2006/relationships/slide" Target="slides/slide17.xml"/><Relationship Id="rId44" Type="http://schemas.openxmlformats.org/officeDocument/2006/relationships/font" Target="fonts/QuattrocentoSans-bold.fntdata"/><Relationship Id="rId21" Type="http://schemas.openxmlformats.org/officeDocument/2006/relationships/slide" Target="slides/slide16.xml"/><Relationship Id="rId43" Type="http://schemas.openxmlformats.org/officeDocument/2006/relationships/font" Target="fonts/QuattrocentoSans-regular.fntdata"/><Relationship Id="rId24" Type="http://schemas.openxmlformats.org/officeDocument/2006/relationships/slide" Target="slides/slide19.xml"/><Relationship Id="rId46" Type="http://schemas.openxmlformats.org/officeDocument/2006/relationships/font" Target="fonts/Quattrocento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Quattrocento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Lora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elp.ubuntu.com/community/Grub2/Passwords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ogs.itpro.es/calonso/2013/06/06/recuperando-password-en-ubuntu/" TargetMode="External"/><Relationship Id="rId3" Type="http://schemas.openxmlformats.org/officeDocument/2006/relationships/hyperlink" Target="https://doutdex.wordpress.com/2008/05/02/como-cambiar-password-clave-usuario-root-ubuntu/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upport.microsoft.com/es-es/windows/restablecer-la-contrase%C3%B1a-windows-cuenta-local-86912508-e584-37cc-86eb-6e9b0542b5ba#WindowsVersion=Windows_10" TargetMode="External"/><Relationship Id="rId3" Type="http://schemas.openxmlformats.org/officeDocument/2006/relationships/hyperlink" Target="https://www.dell.com/support/kbdoc/es-es/000132604/problemas-con-la-contrase%c3%b1a-de-la-cuenta-local-de-windows-10-o-con-una-cuenta-de-microsoft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microsoft.com/es-es/windows/security/identity-protection/user-account-control/user-account-control-security-policy-settings" TargetMode="External"/><Relationship Id="rId3" Type="http://schemas.openxmlformats.org/officeDocument/2006/relationships/hyperlink" Target="https://docs.microsoft.com/es-es/windows/security/identity-protection/user-account-control/user-account-control-overview" TargetMode="External"/><Relationship Id="rId4" Type="http://schemas.openxmlformats.org/officeDocument/2006/relationships/hyperlink" Target="https://docs.microsoft.com/es-es/windows/security/identity-protection/user-account-control/how-user-account-control-works" TargetMode="External"/><Relationship Id="rId5" Type="http://schemas.openxmlformats.org/officeDocument/2006/relationships/hyperlink" Target="https://docs.microsoft.com/es-es/windows/security/identity-protection/user-account-control/user-account-control-security-policy-settings" TargetMode="External"/><Relationship Id="rId6" Type="http://schemas.openxmlformats.org/officeDocument/2006/relationships/hyperlink" Target="https://docs.microsoft.com/es-es/windows/security/identity-protection/access-control/access-control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shcat.net/hashcat/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owsecureismypassword.net/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cyberciti.biz/faq/how-do-i-update-ubuntu-linux-softwares/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puterhoy.com/listas/software/mejores-antivirus-gratis-windows-10-2018-78381" TargetMode="External"/><Relationship Id="rId3" Type="http://schemas.openxmlformats.org/officeDocument/2006/relationships/hyperlink" Target="https://www.solvetic.com/page/recopilaciones/s/seguridad/los-mejores-antivirus-para-linux" TargetMode="External"/><Relationship Id="rId4" Type="http://schemas.openxmlformats.org/officeDocument/2006/relationships/hyperlink" Target="https://www.genbeta.com/a-fondo/le-he-dado-una-oportunidad-a-windows-defender-y-me-he-encontrado-con-un-buen-antivirus" TargetMode="External"/><Relationship Id="rId5" Type="http://schemas.openxmlformats.org/officeDocument/2006/relationships/hyperlink" Target="https://www.softzone.es/2017/10/15/linux-antivirus-firewall/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7df10a2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7df10a2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5ea491e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45ea491e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4b52db84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4b52db84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b52db840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4b52db840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5e1258e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45e1258e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a7df10a27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a7df10a27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5e1258ee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45e1258ee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5e1258ee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45e1258ee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80607d2c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480607d2c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2"/>
              </a:rPr>
              <a:t>https://help.ubuntu.com/community/Grub2/Passwords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80607d2c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480607d2c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 sz="1400"/>
              <a:t>Font: apunts ISO Josep Salord</a:t>
            </a:r>
            <a:endParaRPr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041b0289a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1041b0289a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80607d2c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480607d2c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041b0289a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1041b0289a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80607d2c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480607d2c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b52db840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4b52db840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b52db840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4b52db840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80607d2c2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480607d2c2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2"/>
              </a:rPr>
              <a:t>https://blogs.itpro.es/calonso/2013/06/06/recuperando-password-en-ubuntu/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https://doutdex.wordpress.com/2008/05/02/como-cambiar-password-clave-usuario-root-ubuntu/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041b0289a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1041b0289a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2"/>
              </a:rPr>
              <a:t>https://support.microsoft.com/es-es/windows/restablecer-la-contrase%C3%B1a-windows-cuenta-local-86912508-e584-37cc-86eb-6e9b0542b5ba#WindowsVersion=Windows_10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3"/>
              </a:rPr>
              <a:t>https://www.dell.com/support/kbdoc/es-es/000132604/problemas-con-la-contrase%c3%b1a-de-la-cuenta-local-de-windows-10-o-con-una-cuenta-de-microsoft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45e1258ee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45e1258ee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2"/>
              </a:rPr>
              <a:t>https://docs.microsoft.com/es-es/windows/security/identity-protection/user-account-control/user-account-control-security-policy-settings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3"/>
              </a:rPr>
              <a:t>https://docs.microsoft.com/es-es/windows/security/identity-protection/user-account-control/user-account-control-overview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4"/>
              </a:rPr>
              <a:t>https://docs.microsoft.com/es-es/windows/security/identity-protection/user-account-control/how-user-account-control-works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5"/>
              </a:rPr>
              <a:t>https://docs.microsoft.com/es-es/windows/security/identity-protection/user-account-control/user-account-control-security-policy-settings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6"/>
              </a:rPr>
              <a:t>https://docs.microsoft.com/es-es/windows/security/identity-protection/access-control/access-control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480607d2c2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480607d2c2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>
                <a:solidFill>
                  <a:schemeClr val="dk1"/>
                </a:solidFill>
              </a:rPr>
              <a:t>Advanced Password Recovery: </a:t>
            </a:r>
            <a:r>
              <a:rPr lang="ca" u="sng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https://hashcat.net/hashcat/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80607d2c2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480607d2c2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400" u="sng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https://howsecureismypassword.net/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480607d2c2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480607d2c2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80607d2c2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480607d2c2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b52db840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4b52db840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2"/>
              </a:rPr>
              <a:t>https://www.cyberciti.biz/faq/how-do-i-update-ubuntu-linux-softwares/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b52db840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4b52db840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4b52db840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4b52db840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0db01bd4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10db01bd4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4b52db840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4b52db840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2"/>
              </a:rPr>
              <a:t>https://computerhoy.com/listas/software/mejores-antivirus-gratis-windows-10-2018-78381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3"/>
              </a:rPr>
              <a:t>https://www.solvetic.com/page/recopilaciones/s/seguridad/los-mejores-antivirus-para-linux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 u="sng">
                <a:solidFill>
                  <a:schemeClr val="hlink"/>
                </a:solidFill>
                <a:hlinkClick r:id="rId4"/>
              </a:rPr>
              <a:t>https://www.genbeta.com/a-fondo/le-he-dado-una-oportunidad-a-windows-defender-y-me-he-encontrado-con-un-buen-antivirus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/>
              <a:t>Linux no necessita antivirus? </a:t>
            </a:r>
            <a:r>
              <a:rPr lang="ca" u="sng">
                <a:solidFill>
                  <a:schemeClr val="hlink"/>
                </a:solidFill>
                <a:hlinkClick r:id="rId5"/>
              </a:rPr>
              <a:t>https://www.softzone.es/2017/10/15/linux-antivirus-firewall/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4b52db8409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4b52db8409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/>
              <a:t>https://www.segu-info.com.ar/logica/seguridadlogica.htm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4b52db8409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4b52db8409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0e454b7f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10e454b7f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/>
              <a:t>https://www.segu-info.com.ar/logica/seguridadlogica.htm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4b52db8409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4b52db8409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ca"/>
              <a:t>https://www.segu-info.com.ar/logica/seguridadlogica.htm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41fac0d1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41fac0d1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tantata.es/pebkac-tienes-un-error-entre-el-teclado-y-la-silla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itsfoss.com/what-is-grub/" TargetMode="External"/><Relationship Id="rId4" Type="http://schemas.openxmlformats.org/officeDocument/2006/relationships/hyperlink" Target="https://itsfoss.com/customize-grub-linux/" TargetMode="External"/><Relationship Id="rId5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keepass.info/" TargetMode="External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keepass.info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strongpasswordgenerator.com/" TargetMode="External"/><Relationship Id="rId4" Type="http://schemas.openxmlformats.org/officeDocument/2006/relationships/hyperlink" Target="https://www.dashlane.com/features/password-generator" TargetMode="External"/><Relationship Id="rId5" Type="http://schemas.openxmlformats.org/officeDocument/2006/relationships/hyperlink" Target="https://www.strongpasswordgenerator.org/" TargetMode="External"/><Relationship Id="rId6" Type="http://schemas.openxmlformats.org/officeDocument/2006/relationships/hyperlink" Target="https://www.lastpass.com/password-generator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youtube.com/watch?v=LkeGluvR6C8" TargetMode="External"/><Relationship Id="rId4" Type="http://schemas.openxmlformats.org/officeDocument/2006/relationships/hyperlink" Target="https://www.youtube.com/watch?v=asIAIQ1uhxQ" TargetMode="External"/><Relationship Id="rId9" Type="http://schemas.openxmlformats.org/officeDocument/2006/relationships/image" Target="../media/image11.png"/><Relationship Id="rId5" Type="http://schemas.openxmlformats.org/officeDocument/2006/relationships/hyperlink" Target="https://patchmypc.com/home-updater-download" TargetMode="External"/><Relationship Id="rId6" Type="http://schemas.openxmlformats.org/officeDocument/2006/relationships/hyperlink" Target="https://filehippo.com/download_app_manager" TargetMode="External"/><Relationship Id="rId7" Type="http://schemas.openxmlformats.org/officeDocument/2006/relationships/hyperlink" Target="https://heimdalsecurity.com/en/products/heimdal-free?source=sas&amp;sscid=b1k2_e5ep6" TargetMode="External"/><Relationship Id="rId8" Type="http://schemas.openxmlformats.org/officeDocument/2006/relationships/hyperlink" Target="http://www.kcsoftwares.com/?sumo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support.microsoft.com/ca-es/help/4013263/windows-10-stay-protected-with-windows-security" TargetMode="External"/><Relationship Id="rId4" Type="http://schemas.openxmlformats.org/officeDocument/2006/relationships/hyperlink" Target="https://computerhoy.com/paso-a-paso/software/windows-defender-como-configurar-antivirus-windows-10-75799" TargetMode="External"/><Relationship Id="rId11" Type="http://schemas.openxmlformats.org/officeDocument/2006/relationships/hyperlink" Target="https://www.comodo.com/home/internet-security/antivirus-for-linux.php" TargetMode="External"/><Relationship Id="rId10" Type="http://schemas.openxmlformats.org/officeDocument/2006/relationships/hyperlink" Target="https://www.sophos.com/es-es/products/free-tools/sophos-antivirus-for-linux.aspx" TargetMode="External"/><Relationship Id="rId9" Type="http://schemas.openxmlformats.org/officeDocument/2006/relationships/hyperlink" Target="https://gitlab.com/dave_m/clamtk" TargetMode="External"/><Relationship Id="rId5" Type="http://schemas.openxmlformats.org/officeDocument/2006/relationships/hyperlink" Target="https://www.avira.com/es/free-antivirus-windows" TargetMode="External"/><Relationship Id="rId6" Type="http://schemas.openxmlformats.org/officeDocument/2006/relationships/hyperlink" Target="https://www.bitdefender.com/solutions/free.html" TargetMode="External"/><Relationship Id="rId7" Type="http://schemas.openxmlformats.org/officeDocument/2006/relationships/hyperlink" Target="https://www.kaspersky.es/free-antivirus" TargetMode="External"/><Relationship Id="rId8" Type="http://schemas.openxmlformats.org/officeDocument/2006/relationships/hyperlink" Target="http://www.clamav.net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malwarebytes.com/" TargetMode="External"/><Relationship Id="rId4" Type="http://schemas.openxmlformats.org/officeDocument/2006/relationships/hyperlink" Target="https://www.adlice.com/download/roguekiller/" TargetMode="External"/><Relationship Id="rId11" Type="http://schemas.openxmlformats.org/officeDocument/2006/relationships/hyperlink" Target="https://www.icsalabs.com/" TargetMode="External"/><Relationship Id="rId10" Type="http://schemas.openxmlformats.org/officeDocument/2006/relationships/hyperlink" Target="https://www.virusbulletin.com/" TargetMode="External"/><Relationship Id="rId9" Type="http://schemas.openxmlformats.org/officeDocument/2006/relationships/hyperlink" Target="https://www.av-test.org/en/" TargetMode="External"/><Relationship Id="rId5" Type="http://schemas.openxmlformats.org/officeDocument/2006/relationships/hyperlink" Target="https://dave-theunsub.github.io/clamtk/" TargetMode="External"/><Relationship Id="rId6" Type="http://schemas.openxmlformats.org/officeDocument/2006/relationships/hyperlink" Target="https://www.ccn-cert.cni.es/herramientas-ciberseguridad/maria-publico.html" TargetMode="External"/><Relationship Id="rId7" Type="http://schemas.openxmlformats.org/officeDocument/2006/relationships/hyperlink" Target="https://www.ccn-cert.cni.es/herramientas-ciberseguridad/marta.html" TargetMode="External"/><Relationship Id="rId8" Type="http://schemas.openxmlformats.org/officeDocument/2006/relationships/hyperlink" Target="https://www.av-comparatives.org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creativecommons.org/licenses/by-nc-sa/4.0/legalcode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0"/>
            <a:ext cx="8572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445675"/>
            <a:ext cx="85206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5200">
                <a:solidFill>
                  <a:srgbClr val="FFFFFF"/>
                </a:solidFill>
              </a:rPr>
              <a:t>UD 5. Seguretat Activa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40396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ca" sz="2800">
                <a:solidFill>
                  <a:srgbClr val="F3F3F3"/>
                </a:solidFill>
              </a:rPr>
              <a:t>Autors: Aina Fonolleres/Martí Vich</a:t>
            </a:r>
            <a:endParaRPr sz="2800">
              <a:solidFill>
                <a:srgbClr val="F3F3F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ca" sz="2800">
                <a:solidFill>
                  <a:srgbClr val="F3F3F3"/>
                </a:solidFill>
              </a:rPr>
              <a:t>Professor: Martí Vich</a:t>
            </a:r>
            <a:endParaRPr sz="28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Principi bàsic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22850" y="1473600"/>
            <a:ext cx="3213900" cy="3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/>
              <a:t>La seguretat activa ha de ser com una carrera d’obstacles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CC0000"/>
                </a:solidFill>
              </a:rPr>
              <a:t>Posar-li difícil als atacants per accedir al sistema!</a:t>
            </a:r>
            <a:endParaRPr b="1" sz="1800">
              <a:solidFill>
                <a:srgbClr val="CC0000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6350" y="1318575"/>
            <a:ext cx="4851048" cy="30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Seguretat a la caixa de l’ordinador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71650" y="1157075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dk1"/>
                </a:solidFill>
              </a:rPr>
              <a:t>Per evitar que la caixa es pugui obrir &gt; cadenat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dk1"/>
                </a:solidFill>
              </a:rPr>
              <a:t>Si és portàtil &gt; cadenat Kensington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40" y="2819625"/>
            <a:ext cx="1840136" cy="1824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1150" y="1095300"/>
            <a:ext cx="2507500" cy="182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Seguretat a mòbils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4625"/>
            <a:ext cx="4210634" cy="347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3074" y="1524138"/>
            <a:ext cx="3335550" cy="265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Principi bàsic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9063" y="1114625"/>
            <a:ext cx="3468075" cy="347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Principi bàsic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">
                <a:solidFill>
                  <a:schemeClr val="dk1"/>
                </a:solidFill>
                <a:highlight>
                  <a:srgbClr val="FFFF00"/>
                </a:highlight>
              </a:rPr>
              <a:t>IMP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5786675" y="3112700"/>
            <a:ext cx="12474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1003225" y="1659675"/>
            <a:ext cx="7334700" cy="25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900"/>
              <a:t>Pebkac:</a:t>
            </a:r>
            <a:endParaRPr b="1"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hlinkClick r:id="rId3"/>
              </a:rPr>
              <a:t>https://www.tantata.es/pebkac-tienes-un-error-entre-el-teclado-y-la-silla/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Principi bàsic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ca">
                <a:highlight>
                  <a:srgbClr val="FFFF00"/>
                </a:highlight>
              </a:rPr>
              <a:t>IMP</a:t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433950" y="1263175"/>
            <a:ext cx="8298300" cy="21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2000">
                <a:solidFill>
                  <a:schemeClr val="dk1"/>
                </a:solidFill>
              </a:rPr>
              <a:t>La regla d’or a seguretat informàtica és:</a:t>
            </a:r>
            <a:r>
              <a:rPr lang="ca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2400" u="sng">
                <a:solidFill>
                  <a:srgbClr val="A61C00"/>
                </a:solidFill>
              </a:rPr>
              <a:t>MAI CONFIAR EN ELS USUARIS</a:t>
            </a:r>
            <a:endParaRPr b="1" sz="2400" u="sng">
              <a:solidFill>
                <a:srgbClr val="A61C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2400">
                <a:solidFill>
                  <a:schemeClr val="dk1"/>
                </a:solidFill>
              </a:rPr>
              <a:t>“Principi de privilegi mínim”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800">
                <a:solidFill>
                  <a:schemeClr val="dk1"/>
                </a:solidFill>
              </a:rPr>
              <a:t>Atorgar a l’usuari el conjunt de privilegis més restrictiu (autorització més baixa)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800">
                <a:solidFill>
                  <a:schemeClr val="dk1"/>
                </a:solidFill>
              </a:rPr>
              <a:t>necessari perquè pugui dur a terme la seva tasca.</a:t>
            </a:r>
            <a:endParaRPr b="1"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Principi bàsic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433950" y="1866850"/>
            <a:ext cx="8298300" cy="1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3000">
                <a:solidFill>
                  <a:srgbClr val="CC0000"/>
                </a:solidFill>
              </a:rPr>
              <a:t>Tot el que no està permès </a:t>
            </a:r>
            <a:endParaRPr b="1" sz="3000">
              <a:solidFill>
                <a:srgbClr val="CC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ca" sz="3000">
                <a:solidFill>
                  <a:srgbClr val="CC0000"/>
                </a:solidFill>
              </a:rPr>
              <a:t>ha d'estar prohibit.</a:t>
            </a:r>
            <a:endParaRPr b="1" sz="30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Seguretat al sistema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ca">
                <a:highlight>
                  <a:srgbClr val="FFFF00"/>
                </a:highlight>
              </a:rPr>
              <a:t>IMP</a:t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271650" y="1157075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600">
                <a:solidFill>
                  <a:schemeClr val="dk1"/>
                </a:solidFill>
                <a:highlight>
                  <a:srgbClr val="FFFFFF"/>
                </a:highlight>
              </a:rPr>
              <a:t>1. </a:t>
            </a:r>
            <a:r>
              <a:rPr b="1" lang="ca" sz="1600">
                <a:solidFill>
                  <a:schemeClr val="dk1"/>
                </a:solidFill>
                <a:highlight>
                  <a:srgbClr val="FFFFFF"/>
                </a:highlight>
              </a:rPr>
              <a:t>BIOS</a:t>
            </a:r>
            <a:r>
              <a:rPr lang="ca" sz="1600">
                <a:solidFill>
                  <a:schemeClr val="dk1"/>
                </a:solidFill>
                <a:highlight>
                  <a:srgbClr val="FFFFFF"/>
                </a:highlight>
              </a:rPr>
              <a:t>: posar contrasenya i canviar la contrasenya d’administrador.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600">
                <a:solidFill>
                  <a:schemeClr val="dk1"/>
                </a:solidFill>
                <a:highlight>
                  <a:srgbClr val="FFFFFF"/>
                </a:highlight>
              </a:rPr>
              <a:t>2. </a:t>
            </a:r>
            <a:r>
              <a:rPr b="1" lang="ca" sz="1600">
                <a:solidFill>
                  <a:schemeClr val="dk1"/>
                </a:solidFill>
                <a:highlight>
                  <a:srgbClr val="FFFFFF"/>
                </a:highlight>
              </a:rPr>
              <a:t>Gestor d'engegada / </a:t>
            </a:r>
            <a:r>
              <a:rPr b="1" i="1" lang="ca" sz="1600">
                <a:solidFill>
                  <a:schemeClr val="dk1"/>
                </a:solidFill>
                <a:highlight>
                  <a:srgbClr val="FFFFFF"/>
                </a:highlight>
              </a:rPr>
              <a:t>boot manager</a:t>
            </a:r>
            <a:r>
              <a:rPr b="1" lang="ca" sz="1600">
                <a:solidFill>
                  <a:schemeClr val="dk1"/>
                </a:solidFill>
                <a:highlight>
                  <a:srgbClr val="FFFFFF"/>
                </a:highlight>
              </a:rPr>
              <a:t> (GRUB)</a:t>
            </a:r>
            <a:r>
              <a:rPr lang="ca" sz="1600">
                <a:solidFill>
                  <a:schemeClr val="dk1"/>
                </a:solidFill>
                <a:highlight>
                  <a:srgbClr val="FFFFFF"/>
                </a:highlight>
              </a:rPr>
              <a:t>: posar contrasenya.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600">
                <a:solidFill>
                  <a:schemeClr val="dk1"/>
                </a:solidFill>
                <a:highlight>
                  <a:srgbClr val="FFFFFF"/>
                </a:highlight>
              </a:rPr>
              <a:t>3. </a:t>
            </a:r>
            <a:r>
              <a:rPr b="1" lang="ca" sz="1600">
                <a:solidFill>
                  <a:schemeClr val="dk1"/>
                </a:solidFill>
                <a:highlight>
                  <a:srgbClr val="FFFFFF"/>
                </a:highlight>
              </a:rPr>
              <a:t>Autenticació</a:t>
            </a:r>
            <a:r>
              <a:rPr b="1" lang="ca" sz="1600">
                <a:solidFill>
                  <a:schemeClr val="dk1"/>
                </a:solidFill>
                <a:highlight>
                  <a:srgbClr val="FFFFFF"/>
                </a:highlight>
              </a:rPr>
              <a:t> al sistema</a:t>
            </a:r>
            <a:r>
              <a:rPr lang="ca" sz="1600">
                <a:solidFill>
                  <a:schemeClr val="dk1"/>
                </a:solidFill>
                <a:highlight>
                  <a:srgbClr val="FFFFFF"/>
                </a:highlight>
              </a:rPr>
              <a:t>: definir polítiques de contrasenyes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600">
                <a:solidFill>
                  <a:schemeClr val="dk1"/>
                </a:solidFill>
                <a:highlight>
                  <a:srgbClr val="FFFFFF"/>
                </a:highlight>
              </a:rPr>
              <a:t>4. </a:t>
            </a:r>
            <a:r>
              <a:rPr b="1" lang="ca" sz="1600">
                <a:solidFill>
                  <a:schemeClr val="dk1"/>
                </a:solidFill>
                <a:highlight>
                  <a:srgbClr val="FFFFFF"/>
                </a:highlight>
              </a:rPr>
              <a:t>Seguretat de fitxers</a:t>
            </a:r>
            <a:r>
              <a:rPr lang="ca" sz="1600">
                <a:solidFill>
                  <a:schemeClr val="dk1"/>
                </a:solidFill>
                <a:highlight>
                  <a:srgbClr val="FFFFFF"/>
                </a:highlight>
              </a:rPr>
              <a:t>: Definir permisos, sobretot per gestionar carpetes comunitàries.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Seguretat al sistema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ca">
                <a:highlight>
                  <a:srgbClr val="FFFF00"/>
                </a:highlight>
              </a:rPr>
              <a:t>No empollar</a:t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513" y="1078625"/>
            <a:ext cx="7218986" cy="3473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ca" sz="3600">
                <a:solidFill>
                  <a:schemeClr val="lt1"/>
                </a:solidFill>
              </a:rPr>
              <a:t>Seguretat a la BIOS i gestors d’engegada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30" name="Google Shape;130;p23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">
                <a:solidFill>
                  <a:schemeClr val="dk1"/>
                </a:solidFill>
                <a:highlight>
                  <a:srgbClr val="FFFF00"/>
                </a:highlight>
              </a:rPr>
              <a:t>IMP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271650" y="1157075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800">
                <a:solidFill>
                  <a:schemeClr val="dk1"/>
                </a:solidFill>
              </a:rPr>
              <a:t>A la </a:t>
            </a:r>
            <a:r>
              <a:rPr b="1" lang="ca" sz="1800">
                <a:solidFill>
                  <a:schemeClr val="dk1"/>
                </a:solidFill>
              </a:rPr>
              <a:t>BIOS</a:t>
            </a:r>
            <a:r>
              <a:rPr lang="ca" sz="1800">
                <a:solidFill>
                  <a:schemeClr val="dk1"/>
                </a:solidFill>
              </a:rPr>
              <a:t> es configuren algunes de les característiques bàsiques dels equips &gt; </a:t>
            </a:r>
            <a:r>
              <a:rPr lang="ca" sz="1800">
                <a:solidFill>
                  <a:srgbClr val="38761D"/>
                </a:solidFill>
              </a:rPr>
              <a:t>el seu accés ha d’estar sempre protegit amb una contrasenya.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dk1"/>
                </a:solidFill>
              </a:rPr>
              <a:t>Canviar l’ordre d’engegada a la </a:t>
            </a:r>
            <a:r>
              <a:rPr b="1" lang="ca" sz="1800">
                <a:solidFill>
                  <a:schemeClr val="dk1"/>
                </a:solidFill>
              </a:rPr>
              <a:t>BIOS</a:t>
            </a:r>
            <a:r>
              <a:rPr lang="ca" sz="1800">
                <a:solidFill>
                  <a:schemeClr val="dk1"/>
                </a:solidFill>
              </a:rPr>
              <a:t> per a que només llegeix el HD &gt; </a:t>
            </a:r>
            <a:r>
              <a:rPr lang="ca" sz="1800">
                <a:solidFill>
                  <a:srgbClr val="A61C00"/>
                </a:solidFill>
              </a:rPr>
              <a:t>evitar que es pugui accedir amb LiveCD o Clonezilla</a:t>
            </a:r>
            <a:endParaRPr sz="1800">
              <a:solidFill>
                <a:srgbClr val="A61C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dk1"/>
                </a:solidFill>
              </a:rPr>
              <a:t>Boot manager &gt; </a:t>
            </a:r>
            <a:r>
              <a:rPr lang="ca" sz="1800">
                <a:solidFill>
                  <a:schemeClr val="dk1"/>
                </a:solidFill>
              </a:rPr>
              <a:t>especificar quin SO volem que engegi (si en tenim més d’un) &gt; </a:t>
            </a:r>
            <a:r>
              <a:rPr lang="ca" sz="1800">
                <a:solidFill>
                  <a:srgbClr val="38761D"/>
                </a:solidFill>
              </a:rPr>
              <a:t>assignar contrasenyes als gestors d’engegada</a:t>
            </a:r>
            <a:endParaRPr sz="18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ca" sz="3600">
                <a:solidFill>
                  <a:schemeClr val="lt1"/>
                </a:solidFill>
              </a:rPr>
              <a:t>BIOS/UEFI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37" name="Google Shape;137;p24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">
                <a:solidFill>
                  <a:schemeClr val="dk1"/>
                </a:solidFill>
                <a:highlight>
                  <a:srgbClr val="FFFF00"/>
                </a:highlight>
              </a:rPr>
              <a:t>IMP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271650" y="1157075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800">
                <a:solidFill>
                  <a:schemeClr val="dk1"/>
                </a:solidFill>
              </a:rPr>
              <a:t>BIOS (Basic Input Output System) - </a:t>
            </a:r>
            <a:r>
              <a:rPr lang="ca" sz="1800">
                <a:solidFill>
                  <a:schemeClr val="dk1"/>
                </a:solidFill>
              </a:rPr>
              <a:t>1975 - </a:t>
            </a:r>
            <a:r>
              <a:rPr lang="ca" sz="1800">
                <a:solidFill>
                  <a:srgbClr val="A61C00"/>
                </a:solidFill>
              </a:rPr>
              <a:t>És un padrí dins l’informàtica</a:t>
            </a:r>
            <a:endParaRPr sz="1800">
              <a:solidFill>
                <a:srgbClr val="A61C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dk1"/>
                </a:solidFill>
              </a:rPr>
              <a:t>UEFI (Unified Extensible Firmware Interface) - 2006 -</a:t>
            </a:r>
            <a:r>
              <a:rPr lang="ca" sz="1800">
                <a:solidFill>
                  <a:srgbClr val="38761D"/>
                </a:solidFill>
              </a:rPr>
              <a:t> UEFI substitueix a BIOS</a:t>
            </a:r>
            <a:r>
              <a:rPr lang="ca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solidFill>
                  <a:schemeClr val="dk1"/>
                </a:solidFill>
              </a:rPr>
              <a:t>Diferències:</a:t>
            </a:r>
            <a:endParaRPr sz="1800" u="sng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 sz="1800">
                <a:solidFill>
                  <a:schemeClr val="dk1"/>
                </a:solidFill>
              </a:rPr>
              <a:t>Aspecte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 sz="1800">
                <a:solidFill>
                  <a:schemeClr val="dk1"/>
                </a:solidFill>
              </a:rPr>
              <a:t>Es pot connectar a Internet per actualitzar-se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 sz="1800">
                <a:solidFill>
                  <a:schemeClr val="dk1"/>
                </a:solidFill>
              </a:rPr>
              <a:t>Es pot executar damunt 64 bits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ca" sz="1800">
                <a:solidFill>
                  <a:schemeClr val="dk1"/>
                </a:solidFill>
              </a:rPr>
              <a:t>Millora la seguretat amb SECURE BOOT!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 sz="1800">
                <a:solidFill>
                  <a:schemeClr val="dk1"/>
                </a:solidFill>
              </a:rPr>
              <a:t>Es pot carregar des de qualsevol recurs no volàtil &gt; Independent del SO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ca" sz="3600">
                <a:solidFill>
                  <a:schemeClr val="lt1"/>
                </a:solidFill>
              </a:rPr>
              <a:t>BIOS/UEFI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4625"/>
            <a:ext cx="4631534" cy="347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6334" y="1114625"/>
            <a:ext cx="4055265" cy="2279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Si oblidam el password de la</a:t>
            </a:r>
            <a:r>
              <a:rPr lang="ca" sz="3600">
                <a:solidFill>
                  <a:srgbClr val="FFFFFF"/>
                </a:solidFill>
              </a:rPr>
              <a:t> BIOS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271650" y="1270450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Podem </a:t>
            </a:r>
            <a:r>
              <a:rPr b="1" lang="ca" sz="1600">
                <a:solidFill>
                  <a:schemeClr val="dk1"/>
                </a:solidFill>
              </a:rPr>
              <a:t>resetejar-la</a:t>
            </a:r>
            <a:r>
              <a:rPr lang="ca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a" sz="1600">
                <a:solidFill>
                  <a:schemeClr val="dk1"/>
                </a:solidFill>
              </a:rPr>
              <a:t>Retirant la </a:t>
            </a:r>
            <a:r>
              <a:rPr b="1" lang="ca" sz="1600">
                <a:solidFill>
                  <a:schemeClr val="dk1"/>
                </a:solidFill>
              </a:rPr>
              <a:t>pila</a:t>
            </a:r>
            <a:r>
              <a:rPr lang="ca" sz="1600">
                <a:solidFill>
                  <a:schemeClr val="dk1"/>
                </a:solidFill>
              </a:rPr>
              <a:t> que manté aquests valors en memòria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a" sz="1600">
                <a:solidFill>
                  <a:schemeClr val="dk1"/>
                </a:solidFill>
              </a:rPr>
              <a:t>Emprant un </a:t>
            </a:r>
            <a:r>
              <a:rPr b="1" lang="ca" sz="1600">
                <a:solidFill>
                  <a:schemeClr val="dk1"/>
                </a:solidFill>
              </a:rPr>
              <a:t>jumper</a:t>
            </a:r>
            <a:r>
              <a:rPr lang="ca" sz="1600">
                <a:solidFill>
                  <a:schemeClr val="dk1"/>
                </a:solidFill>
              </a:rPr>
              <a:t> de la placa base (si està tancat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quan l’ordinador es posa en marxa, esborra els valors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de la BIOS)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3199" y="1503962"/>
            <a:ext cx="3012825" cy="246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i="1" lang="ca" sz="3600">
                <a:solidFill>
                  <a:srgbClr val="FFFFFF"/>
                </a:solidFill>
              </a:rPr>
              <a:t>Boot manager (GRUB)</a:t>
            </a:r>
            <a:endParaRPr b="0" i="1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271650" y="1270450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600">
                <a:solidFill>
                  <a:schemeClr val="dk1"/>
                </a:solidFill>
              </a:rPr>
              <a:t>Gestor d’engegada</a:t>
            </a:r>
            <a:r>
              <a:rPr lang="ca" sz="1600">
                <a:solidFill>
                  <a:schemeClr val="dk1"/>
                </a:solidFill>
              </a:rPr>
              <a:t> que permet escollir amb quin sistema operatiu volem fer feina.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Podem establir qui pot accedir a cada opció.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El boot manager grub de Linux ens permet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posar usuari/password per entrar a les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diferents opcions modificant el fitxer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600">
                <a:solidFill>
                  <a:schemeClr val="dk1"/>
                </a:solidFill>
              </a:rPr>
              <a:t>/boot/grub/grub.cfg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 u="sng">
                <a:solidFill>
                  <a:schemeClr val="hlink"/>
                </a:solidFill>
                <a:hlinkClick r:id="rId3"/>
              </a:rPr>
              <a:t>What is grub?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 u="sng">
                <a:solidFill>
                  <a:schemeClr val="hlink"/>
                </a:solidFill>
                <a:hlinkClick r:id="rId4"/>
              </a:rPr>
              <a:t>Grub customizer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62" name="Google Shape;16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9425" y="2060713"/>
            <a:ext cx="4305300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Xifrar particions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271650" y="1065950"/>
            <a:ext cx="8600700" cy="3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Per evitar que es pugui accedir a les nostres dades.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a" sz="1600">
                <a:solidFill>
                  <a:schemeClr val="dk1"/>
                </a:solidFill>
              </a:rPr>
              <a:t>Fa les particions il·legibles.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a" sz="1600">
                <a:solidFill>
                  <a:schemeClr val="dk1"/>
                </a:solidFill>
              </a:rPr>
              <a:t>No es poden llegir les particions amb un LiveCD.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a" sz="1600">
                <a:solidFill>
                  <a:schemeClr val="dk1"/>
                </a:solidFill>
              </a:rPr>
              <a:t>Bitlocker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a" sz="1600">
                <a:solidFill>
                  <a:schemeClr val="dk1"/>
                </a:solidFill>
              </a:rPr>
              <a:t>UEFI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950" y="2507750"/>
            <a:ext cx="7448550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9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271650" y="1157075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400">
                <a:solidFill>
                  <a:schemeClr val="dk1"/>
                </a:solidFill>
              </a:rPr>
              <a:t>PRÀCTICA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400">
                <a:solidFill>
                  <a:schemeClr val="dk1"/>
                </a:solidFill>
              </a:rPr>
              <a:t>Recupera la contrasenya d’usuari a Linux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0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0"/>
          <p:cNvSpPr txBox="1"/>
          <p:nvPr/>
        </p:nvSpPr>
        <p:spPr>
          <a:xfrm>
            <a:off x="271650" y="1157075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400">
                <a:solidFill>
                  <a:schemeClr val="dk1"/>
                </a:solidFill>
              </a:rPr>
              <a:t>PRÀCTICA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400">
                <a:solidFill>
                  <a:schemeClr val="dk1"/>
                </a:solidFill>
              </a:rPr>
              <a:t>Recupera la contrasenya d’usuari a Windows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Seguretat lògica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1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362500" y="1154100"/>
            <a:ext cx="8298300" cy="3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La </a:t>
            </a:r>
            <a:r>
              <a:rPr b="1" lang="ca" sz="1600">
                <a:solidFill>
                  <a:schemeClr val="dk1"/>
                </a:solidFill>
              </a:rPr>
              <a:t>seguretat lògica</a:t>
            </a:r>
            <a:r>
              <a:rPr lang="ca" sz="1600">
                <a:solidFill>
                  <a:schemeClr val="dk1"/>
                </a:solidFill>
              </a:rPr>
              <a:t> consisteix en l'</a:t>
            </a:r>
            <a:r>
              <a:rPr b="1" lang="ca" sz="1600">
                <a:solidFill>
                  <a:schemeClr val="dk1"/>
                </a:solidFill>
              </a:rPr>
              <a:t>aplicació de barreres i procediments que controlen l'accés a les dades</a:t>
            </a:r>
            <a:r>
              <a:rPr lang="ca" sz="1600">
                <a:solidFill>
                  <a:schemeClr val="dk1"/>
                </a:solidFill>
              </a:rPr>
              <a:t> i només es permet accedir a elles a les persones autoritzades per fer-ho.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600" u="sng">
                <a:solidFill>
                  <a:schemeClr val="dk1"/>
                </a:solidFill>
              </a:rPr>
              <a:t>Mecanismes d’autenticació al sistema operatiu:</a:t>
            </a:r>
            <a:endParaRPr b="1" sz="1600" u="sng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ca" sz="1600">
                <a:solidFill>
                  <a:schemeClr val="dk1"/>
                </a:solidFill>
              </a:rPr>
              <a:t>Usuari / contrasenya</a:t>
            </a:r>
            <a:r>
              <a:rPr lang="ca" sz="1600">
                <a:solidFill>
                  <a:schemeClr val="dk1"/>
                </a:solidFill>
              </a:rPr>
              <a:t> &gt; posar un límit d’intents i bloquejar si es passa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ca" sz="1600">
                <a:solidFill>
                  <a:schemeClr val="dk1"/>
                </a:solidFill>
              </a:rPr>
              <a:t>Targetes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ca" sz="1600">
                <a:solidFill>
                  <a:schemeClr val="dk1"/>
                </a:solidFill>
              </a:rPr>
              <a:t>Biometria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Política de contrasenyes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2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">
                <a:solidFill>
                  <a:schemeClr val="dk1"/>
                </a:solidFill>
                <a:highlight>
                  <a:srgbClr val="FFFF00"/>
                </a:highlight>
              </a:rPr>
              <a:t>IMP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362500" y="1070100"/>
            <a:ext cx="8298300" cy="3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 sz="1800">
                <a:solidFill>
                  <a:schemeClr val="dk1"/>
                </a:solidFill>
              </a:rPr>
              <a:t>Assegurar la fortalesa de les contrasenyes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 sz="1800">
                <a:solidFill>
                  <a:schemeClr val="dk1"/>
                </a:solidFill>
              </a:rPr>
              <a:t>Assegurar que es guarden en un lloc segur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dk1"/>
                </a:solidFill>
              </a:rPr>
              <a:t>	</a:t>
            </a:r>
            <a:r>
              <a:rPr lang="ca" sz="1600">
                <a:solidFill>
                  <a:schemeClr val="dk1"/>
                </a:solidFill>
              </a:rPr>
              <a:t>Gestors de contrasenyes. Ex: </a:t>
            </a:r>
            <a:r>
              <a:rPr lang="ca" sz="1600" u="sng">
                <a:solidFill>
                  <a:schemeClr val="hlink"/>
                </a:solidFill>
                <a:hlinkClick r:id="rId3"/>
              </a:rPr>
              <a:t>https://keepass.info/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 sz="1800">
                <a:solidFill>
                  <a:schemeClr val="dk1"/>
                </a:solidFill>
              </a:rPr>
              <a:t>Assegurar que es comuniquen de forma segura </a:t>
            </a:r>
            <a:endParaRPr sz="18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Criptografia: xifrar arxiu, comunicació, email...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99" name="Google Shape;19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358600" y="1927748"/>
            <a:ext cx="1290500" cy="12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Regles per crear contrasenyes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3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">
                <a:solidFill>
                  <a:schemeClr val="dk1"/>
                </a:solidFill>
                <a:highlight>
                  <a:srgbClr val="FFFF00"/>
                </a:highlight>
              </a:rPr>
              <a:t>IMP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56875" y="1062650"/>
            <a:ext cx="8799000" cy="3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Establir un </a:t>
            </a:r>
            <a:r>
              <a:rPr b="1" lang="ca">
                <a:solidFill>
                  <a:schemeClr val="dk1"/>
                </a:solidFill>
              </a:rPr>
              <a:t>nombre màxim d’intents</a:t>
            </a:r>
            <a:r>
              <a:rPr lang="ca">
                <a:solidFill>
                  <a:schemeClr val="dk1"/>
                </a:solidFill>
              </a:rPr>
              <a:t> per accedir al sistema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Obligar a </a:t>
            </a:r>
            <a:r>
              <a:rPr b="1" lang="ca">
                <a:solidFill>
                  <a:schemeClr val="dk1"/>
                </a:solidFill>
              </a:rPr>
              <a:t>canviar la contrasenya cada X temps</a:t>
            </a:r>
            <a:r>
              <a:rPr lang="ca">
                <a:solidFill>
                  <a:schemeClr val="dk1"/>
                </a:solidFill>
              </a:rPr>
              <a:t> i no repetir les darreres &gt; per què??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Obligar a </a:t>
            </a:r>
            <a:r>
              <a:rPr b="1" lang="ca">
                <a:solidFill>
                  <a:schemeClr val="dk1"/>
                </a:solidFill>
              </a:rPr>
              <a:t>canviar les contrasenyes per defecte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No emprar </a:t>
            </a:r>
            <a:r>
              <a:rPr b="1" lang="ca">
                <a:solidFill>
                  <a:schemeClr val="dk1"/>
                </a:solidFill>
              </a:rPr>
              <a:t>paraules usuals</a:t>
            </a:r>
            <a:r>
              <a:rPr lang="ca">
                <a:solidFill>
                  <a:schemeClr val="dk1"/>
                </a:solidFill>
              </a:rPr>
              <a:t> o relacionades amb l’usuari. Ex: data naixement, DNI…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No emprar </a:t>
            </a:r>
            <a:r>
              <a:rPr b="1" lang="ca">
                <a:solidFill>
                  <a:schemeClr val="dk1"/>
                </a:solidFill>
              </a:rPr>
              <a:t>paraules de diccionari </a:t>
            </a:r>
            <a:r>
              <a:rPr lang="ca">
                <a:solidFill>
                  <a:schemeClr val="dk1"/>
                </a:solidFill>
              </a:rPr>
              <a:t>(amb significat) ni </a:t>
            </a:r>
            <a:r>
              <a:rPr b="1" lang="ca">
                <a:solidFill>
                  <a:schemeClr val="dk1"/>
                </a:solidFill>
              </a:rPr>
              <a:t>seqüències</a:t>
            </a:r>
            <a:r>
              <a:rPr lang="ca">
                <a:solidFill>
                  <a:schemeClr val="dk1"/>
                </a:solidFill>
              </a:rPr>
              <a:t> (1234, qwerty…). Ex: Mallorca2018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Combinar </a:t>
            </a:r>
            <a:r>
              <a:rPr b="1" lang="ca">
                <a:solidFill>
                  <a:schemeClr val="dk1"/>
                </a:solidFill>
              </a:rPr>
              <a:t>majúscules, minúscules, números i caracters especials</a:t>
            </a:r>
            <a:r>
              <a:rPr lang="ca">
                <a:solidFill>
                  <a:schemeClr val="dk1"/>
                </a:solidFill>
              </a:rPr>
              <a:t> (@!*?). Ex: M@ll0rc4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Longitud de </a:t>
            </a:r>
            <a:r>
              <a:rPr b="1" lang="ca">
                <a:solidFill>
                  <a:schemeClr val="dk1"/>
                </a:solidFill>
              </a:rPr>
              <a:t>mínim 8 caracters</a:t>
            </a:r>
            <a:r>
              <a:rPr lang="ca">
                <a:solidFill>
                  <a:schemeClr val="dk1"/>
                </a:solidFill>
              </a:rPr>
              <a:t> (a més llarga, més resistirà a un atac de força bruta)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No emprar la mateixa contrasenya a </a:t>
            </a:r>
            <a:r>
              <a:rPr b="1" lang="ca">
                <a:solidFill>
                  <a:schemeClr val="dk1"/>
                </a:solidFill>
              </a:rPr>
              <a:t>entorns diferents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ca">
                <a:solidFill>
                  <a:schemeClr val="dk1"/>
                </a:solidFill>
              </a:rPr>
              <a:t>No apuntar les contrasenyes</a:t>
            </a:r>
            <a:r>
              <a:rPr lang="ca">
                <a:solidFill>
                  <a:schemeClr val="dk1"/>
                </a:solidFill>
              </a:rPr>
              <a:t> en paper o a un arxiu de l’ordinador ni enviar-les per SMS, WhatsApp… Emprar un </a:t>
            </a:r>
            <a:r>
              <a:rPr lang="ca" u="sng">
                <a:solidFill>
                  <a:schemeClr val="dk1"/>
                </a:solidFill>
              </a:rPr>
              <a:t>gestor de contrasenyes.</a:t>
            </a:r>
            <a:r>
              <a:rPr lang="ca">
                <a:solidFill>
                  <a:schemeClr val="dk1"/>
                </a:solidFill>
              </a:rPr>
              <a:t> Ex: </a:t>
            </a:r>
            <a:r>
              <a:rPr lang="ca" u="sng">
                <a:solidFill>
                  <a:schemeClr val="hlink"/>
                </a:solidFill>
                <a:hlinkClick r:id="rId3"/>
              </a:rPr>
              <a:t>https://keepass.info/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Crear </a:t>
            </a:r>
            <a:r>
              <a:rPr b="1" lang="ca">
                <a:solidFill>
                  <a:schemeClr val="dk1"/>
                </a:solidFill>
              </a:rPr>
              <a:t>comptes d’usuari </a:t>
            </a:r>
            <a:r>
              <a:rPr lang="ca">
                <a:solidFill>
                  <a:schemeClr val="dk1"/>
                </a:solidFill>
              </a:rPr>
              <a:t>&gt; per gestionar contrasenyes, permissos i privilegis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Trucs per crear contrasenyes segures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4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">
                <a:solidFill>
                  <a:schemeClr val="dk1"/>
                </a:solidFill>
                <a:highlight>
                  <a:srgbClr val="FFFF00"/>
                </a:highlight>
              </a:rPr>
              <a:t>IMP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4"/>
          <p:cNvSpPr txBox="1"/>
          <p:nvPr/>
        </p:nvSpPr>
        <p:spPr>
          <a:xfrm>
            <a:off x="72475" y="1179725"/>
            <a:ext cx="8799000" cy="3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ca" sz="1600">
                <a:solidFill>
                  <a:schemeClr val="dk1"/>
                </a:solidFill>
              </a:rPr>
              <a:t>Escollir una frase i agafar les primeres lletres o síl·labes</a:t>
            </a:r>
            <a:r>
              <a:rPr lang="ca" sz="1600">
                <a:solidFill>
                  <a:schemeClr val="dk1"/>
                </a:solidFill>
              </a:rPr>
              <a:t>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Ex: L’Emili Darder mola molt aquest 2021! &gt; LEDmma2021!</a:t>
            </a:r>
            <a:endParaRPr sz="16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ca" sz="1600">
                <a:solidFill>
                  <a:schemeClr val="dk1"/>
                </a:solidFill>
              </a:rPr>
              <a:t>Emprar números i símbols com si fossin lletres</a:t>
            </a:r>
            <a:r>
              <a:rPr lang="ca" sz="1600">
                <a:solidFill>
                  <a:schemeClr val="dk1"/>
                </a:solidFill>
              </a:rPr>
              <a:t>. Ex: a = @ o 4, e = 3...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		Ex: 3miliD@rd3r2018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Generadors de contrasenyes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5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">
                <a:solidFill>
                  <a:schemeClr val="dk1"/>
                </a:solidFill>
                <a:highlight>
                  <a:srgbClr val="FFFF00"/>
                </a:highlight>
              </a:rPr>
              <a:t>No empollar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220" name="Google Shape;220;p35"/>
          <p:cNvSpPr txBox="1"/>
          <p:nvPr/>
        </p:nvSpPr>
        <p:spPr>
          <a:xfrm>
            <a:off x="271650" y="1157075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hlinkClick r:id="rId3"/>
              </a:rPr>
              <a:t>https://strongpasswordgenerator.com/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hlinkClick r:id="rId4"/>
              </a:rPr>
              <a:t>https://www.dashlane.com/features/password-generator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hlinkClick r:id="rId5"/>
              </a:rPr>
              <a:t>https://www.strongpasswordgenerator.org/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hlinkClick r:id="rId6"/>
              </a:rPr>
              <a:t>https://www.lastpass.com/password-generator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Crear contrasenyes a Linux amb mkpasswd</a:t>
            </a:r>
            <a:endParaRPr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makepasswd</a:t>
            </a:r>
            <a:endParaRPr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pwgen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A</a:t>
            </a:r>
            <a:r>
              <a:rPr lang="ca" sz="3600">
                <a:solidFill>
                  <a:srgbClr val="FFFFFF"/>
                </a:solidFill>
              </a:rPr>
              <a:t>ctualitzacions automàtiques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">
                <a:solidFill>
                  <a:schemeClr val="dk1"/>
                </a:solidFill>
                <a:highlight>
                  <a:srgbClr val="FFFF00"/>
                </a:highlight>
              </a:rPr>
              <a:t>No empollar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227" name="Google Shape;227;p36"/>
          <p:cNvSpPr txBox="1"/>
          <p:nvPr/>
        </p:nvSpPr>
        <p:spPr>
          <a:xfrm>
            <a:off x="271650" y="1018225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dk1"/>
                </a:solidFill>
              </a:rPr>
              <a:t>Windows: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 u="sng">
                <a:solidFill>
                  <a:schemeClr val="hlink"/>
                </a:solidFill>
                <a:hlinkClick r:id="rId3"/>
              </a:rPr>
              <a:t>WSUS</a:t>
            </a:r>
            <a:r>
              <a:rPr lang="ca">
                <a:solidFill>
                  <a:schemeClr val="dk1"/>
                </a:solidFill>
              </a:rPr>
              <a:t>, </a:t>
            </a:r>
            <a:r>
              <a:rPr lang="ca" u="sng">
                <a:solidFill>
                  <a:schemeClr val="hlink"/>
                </a:solidFill>
                <a:hlinkClick r:id="rId4"/>
              </a:rPr>
              <a:t>SCCM</a:t>
            </a:r>
            <a:r>
              <a:rPr lang="ca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 u="sng">
                <a:solidFill>
                  <a:schemeClr val="hlink"/>
                </a:solidFill>
                <a:hlinkClick r:id="rId5"/>
              </a:rPr>
              <a:t>Patch My PC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 u="sng">
                <a:solidFill>
                  <a:schemeClr val="hlink"/>
                </a:solidFill>
                <a:hlinkClick r:id="rId6"/>
              </a:rPr>
              <a:t>FileHippo App Manager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 u="sng">
                <a:solidFill>
                  <a:schemeClr val="hlink"/>
                </a:solidFill>
                <a:hlinkClick r:id="rId7"/>
              </a:rPr>
              <a:t>Thor (Heimdal)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SUMo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dk1"/>
                </a:solidFill>
              </a:rPr>
              <a:t>Linux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ca"/>
              <a:t>Software Updater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ca"/>
              <a:t>sudo apt-get update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ca"/>
              <a:t>sudo apt-get upgrade &gt; aplicar actualitzacions i parxes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C4125"/>
              </a:solidFill>
            </a:endParaRPr>
          </a:p>
        </p:txBody>
      </p:sp>
      <p:pic>
        <p:nvPicPr>
          <p:cNvPr id="228" name="Google Shape;228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04100" y="1887179"/>
            <a:ext cx="5968250" cy="6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Actualitzacions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7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7"/>
          <p:cNvSpPr txBox="1"/>
          <p:nvPr/>
        </p:nvSpPr>
        <p:spPr>
          <a:xfrm>
            <a:off x="271650" y="1018225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000">
                <a:solidFill>
                  <a:schemeClr val="dk1"/>
                </a:solidFill>
              </a:rPr>
              <a:t>PRÀCTICA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000">
                <a:solidFill>
                  <a:schemeClr val="dk1"/>
                </a:solidFill>
              </a:rPr>
              <a:t>Cercar la configuració d’actualitzacions a Windows i GNU/Linux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000">
                <a:solidFill>
                  <a:schemeClr val="dk1"/>
                </a:solidFill>
              </a:rPr>
              <a:t>Què és el Service Pack?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C4125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Monitoritzar el sistema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8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8"/>
          <p:cNvSpPr txBox="1"/>
          <p:nvPr/>
        </p:nvSpPr>
        <p:spPr>
          <a:xfrm>
            <a:off x="271650" y="1157075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dk1"/>
                </a:solidFill>
              </a:rPr>
              <a:t>Revisar l’estat del sistema: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 sz="1800">
                <a:solidFill>
                  <a:schemeClr val="dk1"/>
                </a:solidFill>
              </a:rPr>
              <a:t>Revisar logs (accesos i altres successos del sistema)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 sz="1800">
                <a:solidFill>
                  <a:schemeClr val="dk1"/>
                </a:solidFill>
              </a:rPr>
              <a:t>Activar còpia sync dels logs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 sz="1800">
                <a:solidFill>
                  <a:schemeClr val="dk1"/>
                </a:solidFill>
              </a:rPr>
              <a:t>Revisar CPU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dk1"/>
                </a:solidFill>
              </a:rPr>
              <a:t>	</a:t>
            </a:r>
            <a:r>
              <a:rPr b="1" lang="ca" sz="1800">
                <a:solidFill>
                  <a:schemeClr val="dk1"/>
                </a:solidFill>
              </a:rPr>
              <a:t>/var/log/auth.log</a:t>
            </a:r>
            <a:r>
              <a:rPr lang="ca" sz="1800">
                <a:solidFill>
                  <a:schemeClr val="dk1"/>
                </a:solidFill>
              </a:rPr>
              <a:t> &gt; registra els login del sistema.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/>
        </p:nvSpPr>
        <p:spPr>
          <a:xfrm>
            <a:off x="271650" y="1157075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2000">
                <a:solidFill>
                  <a:schemeClr val="dk1"/>
                </a:solidFill>
              </a:rPr>
              <a:t>PRÀCTICA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dk1"/>
                </a:solidFill>
              </a:rPr>
              <a:t>Cercar un sistema per recopilar els intents erronis de sessió i mostrar una alarma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8" name="Google Shape;248;p39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Monitoritzar el sistema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9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Antivirus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0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">
                <a:solidFill>
                  <a:schemeClr val="dk1"/>
                </a:solidFill>
                <a:highlight>
                  <a:srgbClr val="FFFF00"/>
                </a:highlight>
              </a:rPr>
              <a:t>No empollar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256" name="Google Shape;256;p40"/>
          <p:cNvSpPr txBox="1"/>
          <p:nvPr/>
        </p:nvSpPr>
        <p:spPr>
          <a:xfrm>
            <a:off x="271650" y="1044600"/>
            <a:ext cx="8600700" cy="3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800">
                <a:solidFill>
                  <a:srgbClr val="38761D"/>
                </a:solidFill>
              </a:rPr>
              <a:t>El millor antivirus és tenir tot el sistema i aplicacions actualitzats</a:t>
            </a:r>
            <a:endParaRPr b="1" sz="1800">
              <a:solidFill>
                <a:srgbClr val="38761D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800">
                <a:solidFill>
                  <a:srgbClr val="38761D"/>
                </a:solidFill>
              </a:rPr>
              <a:t>i descarregar només de fonts oficials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/>
              <a:t>Windows: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sng">
                <a:solidFill>
                  <a:schemeClr val="hlink"/>
                </a:solidFill>
                <a:hlinkClick r:id="rId3"/>
              </a:rPr>
              <a:t>Windows Defender</a:t>
            </a:r>
            <a:r>
              <a:rPr b="1" lang="ca" sz="1800"/>
              <a:t> </a:t>
            </a:r>
            <a:r>
              <a:rPr lang="ca" sz="1800"/>
              <a:t>(RECOMANAT)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/>
              <a:t>&gt; </a:t>
            </a:r>
            <a:r>
              <a:rPr lang="ca" sz="1800" u="sng">
                <a:solidFill>
                  <a:schemeClr val="hlink"/>
                </a:solidFill>
                <a:hlinkClick r:id="rId4"/>
              </a:rPr>
              <a:t>com configurar-lo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solidFill>
                  <a:schemeClr val="hlink"/>
                </a:solidFill>
                <a:hlinkClick r:id="rId5"/>
              </a:rPr>
              <a:t>Avira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solidFill>
                  <a:schemeClr val="hlink"/>
                </a:solidFill>
                <a:hlinkClick r:id="rId6"/>
              </a:rPr>
              <a:t>Bit Defender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solidFill>
                  <a:schemeClr val="hlink"/>
                </a:solidFill>
                <a:hlinkClick r:id="rId7"/>
              </a:rPr>
              <a:t>Kaspersky</a:t>
            </a:r>
            <a:endParaRPr sz="1800"/>
          </a:p>
        </p:txBody>
      </p:sp>
      <p:sp>
        <p:nvSpPr>
          <p:cNvPr id="257" name="Google Shape;257;p40"/>
          <p:cNvSpPr txBox="1"/>
          <p:nvPr/>
        </p:nvSpPr>
        <p:spPr>
          <a:xfrm>
            <a:off x="5053500" y="2056200"/>
            <a:ext cx="4101600" cy="21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/>
              <a:t>Linux: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solidFill>
                  <a:schemeClr val="hlink"/>
                </a:solidFill>
                <a:hlinkClick r:id="rId8"/>
              </a:rPr>
              <a:t>ClamAV</a:t>
            </a:r>
            <a:r>
              <a:rPr lang="ca" sz="1800"/>
              <a:t> i </a:t>
            </a:r>
            <a:r>
              <a:rPr lang="ca" sz="1800" u="sng">
                <a:solidFill>
                  <a:schemeClr val="hlink"/>
                </a:solidFill>
                <a:hlinkClick r:id="rId9"/>
              </a:rPr>
              <a:t>ClamTK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solidFill>
                  <a:schemeClr val="hlink"/>
                </a:solidFill>
                <a:hlinkClick r:id="rId10"/>
              </a:rPr>
              <a:t>Sophos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solidFill>
                  <a:schemeClr val="hlink"/>
                </a:solidFill>
                <a:hlinkClick r:id="rId11"/>
              </a:rPr>
              <a:t>Comodo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Eines antimalware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1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1"/>
          <p:cNvSpPr txBox="1"/>
          <p:nvPr/>
        </p:nvSpPr>
        <p:spPr>
          <a:xfrm>
            <a:off x="222825" y="1052125"/>
            <a:ext cx="86007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1"/>
                </a:solidFill>
              </a:rPr>
              <a:t>Windows: </a:t>
            </a:r>
            <a:r>
              <a:rPr lang="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Malware Bytes</a:t>
            </a:r>
            <a:r>
              <a:rPr lang="ca">
                <a:solidFill>
                  <a:schemeClr val="dk1"/>
                </a:solidFill>
              </a:rPr>
              <a:t>, </a:t>
            </a:r>
            <a:r>
              <a:rPr lang="ca" u="sng">
                <a:solidFill>
                  <a:schemeClr val="hlink"/>
                </a:solidFill>
                <a:hlinkClick r:id="rId4"/>
              </a:rPr>
              <a:t>Rogue Killer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Linux: </a:t>
            </a:r>
            <a:r>
              <a:rPr lang="ca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clamtk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	clamav (comandos)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	clamtk (versió gràfica)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>
                <a:solidFill>
                  <a:schemeClr val="dk1"/>
                </a:solidFill>
              </a:rPr>
              <a:t>		sudo clamscan -r -i /home (analitza de forma </a:t>
            </a:r>
            <a:r>
              <a:rPr b="1" lang="ca">
                <a:solidFill>
                  <a:schemeClr val="dk1"/>
                </a:solidFill>
              </a:rPr>
              <a:t>r</a:t>
            </a:r>
            <a:r>
              <a:rPr lang="ca">
                <a:solidFill>
                  <a:schemeClr val="dk1"/>
                </a:solidFill>
              </a:rPr>
              <a:t>ecursiva i només mostra els arxius </a:t>
            </a:r>
            <a:r>
              <a:rPr b="1" lang="ca">
                <a:solidFill>
                  <a:schemeClr val="dk1"/>
                </a:solidFill>
              </a:rPr>
              <a:t>i</a:t>
            </a:r>
            <a:r>
              <a:rPr lang="ca">
                <a:solidFill>
                  <a:schemeClr val="dk1"/>
                </a:solidFill>
              </a:rPr>
              <a:t>nfectats)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>
                <a:solidFill>
                  <a:schemeClr val="dk1"/>
                </a:solidFill>
              </a:rPr>
              <a:t>Online: </a:t>
            </a:r>
            <a:r>
              <a:rPr lang="ca" u="sng">
                <a:solidFill>
                  <a:schemeClr val="hlink"/>
                </a:solidFill>
                <a:hlinkClick r:id="rId6"/>
              </a:rPr>
              <a:t>Maria</a:t>
            </a:r>
            <a:r>
              <a:rPr lang="ca">
                <a:solidFill>
                  <a:schemeClr val="dk1"/>
                </a:solidFill>
              </a:rPr>
              <a:t>, </a:t>
            </a:r>
            <a:r>
              <a:rPr lang="ca" u="sng">
                <a:solidFill>
                  <a:schemeClr val="hlink"/>
                </a:solidFill>
                <a:hlinkClick r:id="rId7"/>
              </a:rPr>
              <a:t>Marta</a:t>
            </a:r>
            <a:r>
              <a:rPr lang="ca">
                <a:solidFill>
                  <a:schemeClr val="dk1"/>
                </a:solidFill>
              </a:rPr>
              <a:t> (CCN-CERT)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Comparatives i tests a antivirus: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hlinkClick r:id="rId8"/>
              </a:rPr>
              <a:t>https://www.av-comparatives.org/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hlinkClick r:id="rId9"/>
              </a:rPr>
              <a:t>https://www.av-test.org/en/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hlinkClick r:id="rId10"/>
              </a:rPr>
              <a:t>https://www.virusbulletin.com/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hlinkClick r:id="rId11"/>
              </a:rPr>
              <a:t>https://www.icsalabs.com/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2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Bloqueig web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2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7113" y="1073475"/>
            <a:ext cx="2769780" cy="347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ca" sz="3600">
                <a:solidFill>
                  <a:srgbClr val="FFFFFF"/>
                </a:solidFill>
              </a:rPr>
              <a:t>Recomanacions</a:t>
            </a:r>
            <a:endParaRPr b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3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">
                <a:solidFill>
                  <a:schemeClr val="dk1"/>
                </a:solidFill>
                <a:highlight>
                  <a:srgbClr val="FFFF00"/>
                </a:highlight>
              </a:rPr>
              <a:t>IMP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43"/>
          <p:cNvSpPr txBox="1"/>
          <p:nvPr/>
        </p:nvSpPr>
        <p:spPr>
          <a:xfrm>
            <a:off x="222825" y="1052125"/>
            <a:ext cx="86007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dk1"/>
                </a:solidFill>
              </a:rPr>
              <a:t>Recomanacions de seguretat: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Mantenir-se informat sobre les </a:t>
            </a:r>
            <a:r>
              <a:rPr b="1" lang="ca">
                <a:solidFill>
                  <a:schemeClr val="dk1"/>
                </a:solidFill>
              </a:rPr>
              <a:t>novetats de seguretat</a:t>
            </a:r>
            <a:r>
              <a:rPr lang="ca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Mantenir l'</a:t>
            </a:r>
            <a:r>
              <a:rPr b="1" lang="ca">
                <a:solidFill>
                  <a:schemeClr val="dk1"/>
                </a:solidFill>
              </a:rPr>
              <a:t>equip actualitzat</a:t>
            </a:r>
            <a:r>
              <a:rPr lang="ca">
                <a:solidFill>
                  <a:schemeClr val="dk1"/>
                </a:solidFill>
              </a:rPr>
              <a:t>, tant el sistema operatiu com a qualsevol aplicació hi hagi instal·lada. Sobre tot les </a:t>
            </a:r>
            <a:r>
              <a:rPr b="1" lang="ca">
                <a:solidFill>
                  <a:schemeClr val="dk1"/>
                </a:solidFill>
              </a:rPr>
              <a:t>eines antimalware</a:t>
            </a:r>
            <a:r>
              <a:rPr lang="ca">
                <a:solidFill>
                  <a:schemeClr val="dk1"/>
                </a:solidFill>
              </a:rPr>
              <a:t> ja que les seves bases de dades s'actualitzen en funció del nou malware que es coneix diariament.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Fer </a:t>
            </a:r>
            <a:r>
              <a:rPr b="1" lang="ca">
                <a:solidFill>
                  <a:schemeClr val="dk1"/>
                </a:solidFill>
              </a:rPr>
              <a:t>còpies de seguretat</a:t>
            </a:r>
            <a:r>
              <a:rPr lang="ca">
                <a:solidFill>
                  <a:schemeClr val="dk1"/>
                </a:solidFill>
              </a:rPr>
              <a:t> amb freqüència, guarda-les en un lloc i suport segur per evitar pèrdues de dades importants.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Utilitzar </a:t>
            </a:r>
            <a:r>
              <a:rPr b="1" lang="ca">
                <a:solidFill>
                  <a:schemeClr val="dk1"/>
                </a:solidFill>
              </a:rPr>
              <a:t>software legal</a:t>
            </a:r>
            <a:r>
              <a:rPr lang="ca">
                <a:solidFill>
                  <a:schemeClr val="dk1"/>
                </a:solidFill>
              </a:rPr>
              <a:t> que sol oferir major garantia i suport.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4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ca" sz="3600">
                <a:solidFill>
                  <a:schemeClr val="lt1"/>
                </a:solidFill>
              </a:rPr>
              <a:t>Recomanacions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84" name="Google Shape;284;p44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">
                <a:solidFill>
                  <a:schemeClr val="dk1"/>
                </a:solidFill>
                <a:highlight>
                  <a:srgbClr val="FFFF00"/>
                </a:highlight>
              </a:rPr>
              <a:t>IMP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5" name="Google Shape;285;p44"/>
          <p:cNvSpPr txBox="1"/>
          <p:nvPr/>
        </p:nvSpPr>
        <p:spPr>
          <a:xfrm>
            <a:off x="222825" y="1052125"/>
            <a:ext cx="86007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Analitzar el sistema de fitxers amb </a:t>
            </a:r>
            <a:r>
              <a:rPr b="1" lang="ca">
                <a:solidFill>
                  <a:schemeClr val="dk1"/>
                </a:solidFill>
              </a:rPr>
              <a:t>vàries eines</a:t>
            </a:r>
            <a:r>
              <a:rPr lang="ca">
                <a:solidFill>
                  <a:schemeClr val="dk1"/>
                </a:solidFill>
              </a:rPr>
              <a:t>, ja que el fet de que una eina no trobi malware no significa que no estiguem infectats.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ca">
                <a:solidFill>
                  <a:schemeClr val="dk1"/>
                </a:solidFill>
              </a:rPr>
              <a:t>No ens hem de fiar</a:t>
            </a:r>
            <a:r>
              <a:rPr lang="ca">
                <a:solidFill>
                  <a:schemeClr val="dk1"/>
                </a:solidFill>
              </a:rPr>
              <a:t> de totes les eines antimalware gratuïtes o les que te alerten al teu sistema està infectat, ja que algunes d'elles poden contenir codi maliciós, publicitat enganyosa, no oferir la protecció promesa i inclús donar com a resultats falsos positius.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ca">
                <a:solidFill>
                  <a:schemeClr val="dk1"/>
                </a:solidFill>
              </a:rPr>
              <a:t>Fer periòdicament escaneig de </a:t>
            </a:r>
            <a:r>
              <a:rPr b="1" lang="ca">
                <a:solidFill>
                  <a:schemeClr val="dk1"/>
                </a:solidFill>
              </a:rPr>
              <a:t>ports, tests de velocitat i connexions de xarxa </a:t>
            </a:r>
            <a:r>
              <a:rPr lang="ca">
                <a:solidFill>
                  <a:schemeClr val="dk1"/>
                </a:solidFill>
              </a:rPr>
              <a:t>per analitzar si les aplicacions que les empren són les autoritzades.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Windows &gt; </a:t>
            </a:r>
            <a:r>
              <a:rPr b="1" lang="ca">
                <a:solidFill>
                  <a:schemeClr val="dk1"/>
                </a:solidFill>
              </a:rPr>
              <a:t>Centre de Seguretat</a:t>
            </a:r>
            <a:r>
              <a:rPr lang="ca">
                <a:solidFill>
                  <a:schemeClr val="dk1"/>
                </a:solidFill>
              </a:rPr>
              <a:t> &gt; </a:t>
            </a:r>
            <a:r>
              <a:rPr i="1" lang="ca">
                <a:solidFill>
                  <a:schemeClr val="dk1"/>
                </a:solidFill>
              </a:rPr>
              <a:t>firewall</a:t>
            </a:r>
            <a:r>
              <a:rPr lang="ca">
                <a:solidFill>
                  <a:schemeClr val="dk1"/>
                </a:solidFill>
              </a:rPr>
              <a:t>, actualitzacions automàtiques, protecció antivirus...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/>
          <p:nvPr/>
        </p:nvSpPr>
        <p:spPr>
          <a:xfrm>
            <a:off x="0" y="-19975"/>
            <a:ext cx="9144000" cy="9822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11100" y="4740675"/>
            <a:ext cx="9144000" cy="432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5"/>
          <p:cNvSpPr txBox="1"/>
          <p:nvPr/>
        </p:nvSpPr>
        <p:spPr>
          <a:xfrm>
            <a:off x="142475" y="1171200"/>
            <a:ext cx="83871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Sou lliure de:</a:t>
            </a:r>
            <a:endParaRPr b="1"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Compartir</a:t>
            </a:r>
            <a: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copiar i redistribuir el material en qualsevol mitjà i format</a:t>
            </a:r>
            <a:b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Adaptar</a:t>
            </a:r>
            <a: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remesclar, transformar i crear a partir del material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 llicenciador no pot revocar aquestes llibertats, sempre que seguiu els termes de la llicència.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Amb els termes següents:</a:t>
            </a:r>
            <a:endParaRPr b="1"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Reconeixement</a:t>
            </a:r>
            <a: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Heu de reconèixer l'</a:t>
            </a:r>
            <a:r>
              <a:rPr b="1" lang="ca" sz="11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autoria de manera apropiada</a:t>
            </a:r>
            <a: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proporcionar un enllaç a la llicència i </a:t>
            </a:r>
            <a:r>
              <a:rPr b="1" lang="ca" sz="11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indicar si heu fet algun canvi</a:t>
            </a:r>
            <a: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Podeu fer-ho de qualsevol manera raonable, però no d'una manera que suggereixi que el llicenciador us dóna suport o patrocina l'ús que en feu.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NoComercial</a:t>
            </a:r>
            <a: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No podeu utilitzar el material per a </a:t>
            </a:r>
            <a:r>
              <a:rPr b="1" lang="ca" sz="11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finalitats comercials</a:t>
            </a:r>
            <a: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CompartirIgual</a:t>
            </a:r>
            <a: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Si remescleu, transformeu o creeu a partir del material, heu de difondre les vostres creacions amb la </a:t>
            </a:r>
            <a:r>
              <a:rPr b="1" lang="ca" sz="11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mateixa llicència</a:t>
            </a:r>
            <a:r>
              <a:rPr b="1"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 l'obra original.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hi ha cap restricció addicional</a:t>
            </a:r>
            <a: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No podeu aplicar termes legals ni </a:t>
            </a:r>
            <a:r>
              <a:rPr b="1" lang="ca" sz="11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mesures tecnològiques</a:t>
            </a:r>
            <a:r>
              <a:rPr lang="ca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que restringeixin legalment a altres de fer qualsevol cosa que la llicència permet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https://creativecommons.org/licenses/by-nc-sa/4.0/legalcode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93" name="Google Shape;29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5050" y="300463"/>
            <a:ext cx="11239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